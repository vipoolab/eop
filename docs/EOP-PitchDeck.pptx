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286000"/>
            <a:ext cx="1645920" cy="1645920"/>
          </a:xfrm>
          <a:prstGeom prst="rect">
            <a:avLst/>
          </a:prstGeom>
          <a:solidFill>
            <a:srgbClr val="FFFFFF">
              <a:alpha val="5000"/>
            </a:srgbClr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EOP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92608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THAI POLICE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28803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ระบบบูรณาการการวางแผนยุทธศาสตร์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926080" y="33832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และการปฏิบัติงาน (EOP)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926080" y="3931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Operation Planning System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สำนักงานยุทธศาสตร์ตำรวจ · สำนักงานตำรวจแห่งชาติ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54864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Pre-PoC Demonstration · Phase 1 MVP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58521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พุทธศักราช ๒๕๖๙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วาระการนำเสนอ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ส่วนหลัก · เวลาประมาณ 20 นาที + Q&amp;A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9441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19456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ความเข้าใจ 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697480"/>
            <a:ext cx="10180015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ขอบเขตงาน · 7 ระบบหลัก · มาตรฐานที่ต้องตอบ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1109441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306324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ระบบหลักที่ส่งมอบ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566160"/>
            <a:ext cx="10180015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· Agenda · Compliance · Command · XR · Data&amp;AI · Security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109441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5880" y="393192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PoC ทำงานจริง (Live Demo)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434840"/>
            <a:ext cx="10180015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Command Draft · Doc Classification · OCR · XR Concept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1109441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80060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25880" y="480060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+ Security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5303520"/>
            <a:ext cx="10180015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design · CII compliance · DR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1109441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566928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25880" y="566928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ทีมงาน · Timeline · งบประมาณ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6172200"/>
            <a:ext cx="10180015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คน · 240 วัน · 92 ล้านบาท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ความท้าทายในการบริหารยุทธศาสตร์ปัจจุบัน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สำนักงานยุทธศาสตร์ตำรวจ (สยศ.ตร.) ต้องประสานงาน 6 หน่วยงาน + พื้นที่ทั่วประเทศ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5472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11680"/>
            <a:ext cx="73152" cy="18288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การกระจายข้อมูล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509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ข้อมูลกระจายในหลายระบบ ไม่บูรณาการ ทำให้ช้าและไม่แม่นยำ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5848" y="2011680"/>
            <a:ext cx="55472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5848" y="2011680"/>
            <a:ext cx="73152" cy="18288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0168" y="219456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เอกสารราชการมีปริมาณมาก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70168" y="2697480"/>
            <a:ext cx="509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หนังสือสั่งการ รายงาน เอกสารจำแนกหลายพันฉบับ/เดือน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5472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114800"/>
            <a:ext cx="73152" cy="18288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การติดตามการปฏิบัติยาก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4800600"/>
            <a:ext cx="509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Read Receipt · ไม่ทราบสถานะคำสั่งแบบ real-time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95848" y="4114800"/>
            <a:ext cx="55472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5848" y="4114800"/>
            <a:ext cx="73152" cy="18288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0168" y="429768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การตอบรายงานตามมาตรฐาน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70168" y="4800600"/>
            <a:ext cx="509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ก.พ.ร. · ITA · PMQA · จัดทำด้วยมือ ใช้เวลามาก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ภาพรวมโครงการ EOP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of Reference · กรอบงบประมาณและกำหนดเวลา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94560"/>
            <a:ext cx="25603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งบประมาณ (บาท)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1945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2194560"/>
            <a:ext cx="256032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3774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74720" y="3108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 · 4 งวด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21945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194560"/>
            <a:ext cx="2560320" cy="5486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3774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17920" y="3108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ระบบหลัก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778240" y="21945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2194560"/>
            <a:ext cx="25603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0" y="23774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961120" y="3108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ทดสอบ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ผลการประเมิน PoC = 30 คะแนน · เป็นปัจจัยสำคัญในการคัดเลือก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2218883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120640"/>
            <a:ext cx="221888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งวด 1: Foundation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วัน · 20%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67523" y="4572000"/>
            <a:ext cx="3328325" cy="457200"/>
          </a:xfrm>
          <a:prstGeom prst="rect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67523" y="5120640"/>
            <a:ext cx="332832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งวด 2: Core Modules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วัน · 30%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95848" y="4572000"/>
            <a:ext cx="3328325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95848" y="5120640"/>
            <a:ext cx="332832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งวด 3: Advanced + XR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วัน · 30%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424172" y="4572000"/>
            <a:ext cx="2218883" cy="457200"/>
          </a:xfrm>
          <a:prstGeom prst="rect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24172" y="5120640"/>
            <a:ext cx="221888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งวด 4: Polish + Go-Live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วัน · 20%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ระบบหลัก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ระบบหลักที่ส่งมอบตาม TOR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6821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194560"/>
            <a:ext cx="17677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Strategic-based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697480"/>
            <a:ext cx="17677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ยุทธศาสตร์ + KPI Cascading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67964" y="2011680"/>
            <a:ext cx="26821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50844" y="219456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0844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45204" y="2194560"/>
            <a:ext cx="17677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Agenda-based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45204" y="2697480"/>
            <a:ext cx="17677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Command Draft + Form Builder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7288" y="2011680"/>
            <a:ext cx="26821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0168" y="219456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016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64528" y="2194560"/>
            <a:ext cx="17677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Compliance-based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64528" y="2697480"/>
            <a:ext cx="17677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ก.พ.ร. / ITA / PMQA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06611" y="2011680"/>
            <a:ext cx="26821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491" y="219456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9491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783851" y="2194560"/>
            <a:ext cx="17677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&amp; Operation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83851" y="2697480"/>
            <a:ext cx="17677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9 สถานะ + Read Receipt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429000"/>
            <a:ext cx="26821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325880" y="3611880"/>
            <a:ext cx="17677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Command Center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25880" y="4114800"/>
            <a:ext cx="17677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Reality + 360° View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67964" y="3429000"/>
            <a:ext cx="26821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50844" y="361188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50844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145204" y="3611880"/>
            <a:ext cx="17677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Management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145204" y="4114800"/>
            <a:ext cx="17677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OCR + Search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87288" y="3429000"/>
            <a:ext cx="268216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70168" y="361188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0168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964528" y="3611880"/>
            <a:ext cx="17677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Security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964528" y="4114800"/>
            <a:ext cx="17677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MFA + Audit · CII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หลักการสำคัญ: บูรณาการ ไม่แยกย่อย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ระบบเดียวที่เชื่อมโยงทุกระบบเข้าด้วยกัน — ไม่ใช่ 7 แอปแยก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94415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ทำไมต้องบูรณาการ?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1018001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หลีกเลี่ยงข้อมูลซ้ำซ้อนระหว่างระบบย่อย (ส่วนกลาง vs หน่วยงาน)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— ผู้ใช้เข้าระบบครั้งเดียว ใช้ได้ทุกฟีเจอร์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ครอบคลุมจากร่างคำสั่ง → อนุมัติ → ติดตาม → รายงาน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รวมศูนย์ — ตรวจสอบความปลอดภัยได้ครบ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เรียนรู้ข้ามระบบ — ใช้ข้อมูล Workflow + Document เพื่อ predict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ค่าใช้จ่ายต่ำลง — Hardware + Maintenance รวมกัน ลดต้นทุน 30%+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SCORING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4 ฟีเจอร์ — ปัจจัยสำคัญในการคัดเลือก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กำหนดให้ทดสอบ PoC จริง — รวม 30 คะแนน (พิเศษ)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4572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Command Draft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560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ร่างหนังสือสั่งการจาก 5 keywords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71455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63240"/>
            <a:ext cx="457200" cy="8686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632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Classification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520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จำแนกเอกสาร 6 หมวด · accuracy ≥ 85%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71455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023360"/>
            <a:ext cx="457200" cy="8686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233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Search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480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ภาษาไทย CER ≤ 10% + Semantic search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71455" y="4206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983480"/>
            <a:ext cx="4572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9834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Command Center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8720" y="5440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virtual screens + GIS 360°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71455" y="5166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ทีมเราทำงานได้จริงทั้งหมด → 30 / 30 คะแนน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มาตรฐานที่ต้องตอบโจทย์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60669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3606698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1168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Information Infrastructure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3240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ระบบสารสนเทศที่มีผลต่อความมั่นคงของรัฐ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2498" y="2011680"/>
            <a:ext cx="360669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2498" y="2011680"/>
            <a:ext cx="3606698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5378" y="201168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ก.พ.ร.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75378" y="265176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การประเมินผลการปฏิบัติราชการ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75378" y="3063240"/>
            <a:ext cx="3240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ตัวชี้วัดและรายงานประจำไตรมาส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36357" y="2011680"/>
            <a:ext cx="360669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36357" y="2011680"/>
            <a:ext cx="3606698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9237" y="201168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19237" y="265176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Transparency Assessment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19237" y="3063240"/>
            <a:ext cx="3240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ดัชนีความโปร่งใสและความซื่อสัตย์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360669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840480"/>
            <a:ext cx="3606698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84048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PMQA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" y="448056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Management Quality Award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892040"/>
            <a:ext cx="3240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รางวัลคุณภาพการบริหารจัดการภาครัฐ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2498" y="3840480"/>
            <a:ext cx="360669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2498" y="3840480"/>
            <a:ext cx="3606698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75378" y="384048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475378" y="448056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Protection Act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75378" y="4892040"/>
            <a:ext cx="3240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พรบ. คุ้มครองข้อมูลส่วนบุคคล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36357" y="3840480"/>
            <a:ext cx="360669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36357" y="3840480"/>
            <a:ext cx="3606698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19237" y="384048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219237" y="448056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Management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19237" y="4892040"/>
            <a:ext cx="3240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มาตรฐานสากลความมั่นคงสารสนเทศ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หลัก — On-premise + High Availability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design ตอบ TOR section 5.6-5.7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1371600" cy="6858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Network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0" y="2194560"/>
            <a:ext cx="6339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· L3 Switch x2 · Internet Fiber x2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880360"/>
            <a:ext cx="13716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80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971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· Application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2971800"/>
            <a:ext cx="6339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Node x3 · DB Node x3 · AI/ML Node x3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57600"/>
            <a:ext cx="1371600" cy="6858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576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3749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· Backup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0" y="3749040"/>
            <a:ext cx="6339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SAN ≥ 20 TB · Immutable Backup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434840"/>
            <a:ext cx="1371600" cy="6858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4348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4526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52160" y="4526280"/>
            <a:ext cx="6339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40U · UPS 5kVA x2 · Hypervisor HA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212080"/>
            <a:ext cx="13716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2120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03120" y="5303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852160" y="5303520"/>
            <a:ext cx="6339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Headset x5 · Workstation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ทำไมทีมเรา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จุดแข็ง 5 ข้อที่ทำให้เราเหมาะกับโครงการนี้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944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19456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ส่งมอบได้จริง — ไม่ใช่ Mockup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697480"/>
            <a:ext cx="10180015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พัฒนาเว็บใช้งานได้จริงในเวลา 7 วัน พร้อม AI 3 ฟีเจอร์ทำงานสด ผ่านการ test end-to-end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110944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306324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ทันสมัย + Open Source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566160"/>
            <a:ext cx="10180015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React 19 · TypeScript · PostgreSQL · ลดค่า license 30%+ ไม่ vendor lock-in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10944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5880" y="393192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ที่ออกแบบมาเฉพาะภาษาไทยราชการ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434840"/>
            <a:ext cx="10180015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Claude API · system prompt ปรับเฉพาะภาษาราชการ · เข้าใจ context สำนักงานตำรวจ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110944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800600"/>
            <a:ext cx="457200" cy="457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25880" y="480060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ทีมในประเทศ ราคาเหมาะสม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5303520"/>
            <a:ext cx="10180015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คน ทีม Thai local engineers · ติดต่อสะดวก · ค่าแรงเหมาะกับงบประมาณราชการ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566928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25880" y="566928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ตอบ TOR เป๊ะ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6172200"/>
            <a:ext cx="10180015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nodes + storage + network · CII compliant · HA + Disaster Recovery พร้อม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ระบบยุทธศาสตร์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Strategic-based Module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วางแผนยุทธศาสตร์ระดับองค์กร · ถ่ายทอด KPI ลงสู่หน่วยปฏิบัติ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65176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 — แผน 3 ระดับ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15468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ยุทธศาสตร์ชาติ → แผนแม่บท → แผนปฏิบัติราชการ · AI ตรวจสอบความสอดคล้อง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42900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Cascading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93192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ตัวชี้วัดถ่ายทอดเชิงน้ำตก · Traffic light (green/yellow/red) · Drill-down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420624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Plan Management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70916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Create / Edit · NLP เรียนรู้บริบทแผน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25880" y="498348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48640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real-time · Cascading goals · เปรียบเทียบเป้าหมาย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76072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76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325880" y="576072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Recommendation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25880" y="626364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แนะนำการปรับแก้ไขแผนให้สอดคล้องกับมาตรฐาน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· DETAIL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Module — รายละเอียดเชิงเทคนิค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94415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Import แผนยุทธศาสตร์ชาติ (PDF/DOCX)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NLP แยกหัวข้อ · เป้าหมาย · ตัวชี้วัด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Map กับแผนแม่บทระดับล่าง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 ตรวจ gap analysis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Suggest revision (ถ้าจำเป็น)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0" y="260604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PostgreSQL — store plans + KPIs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Claude API — NLP analysis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Recharts — visualization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Server Components — fast SSR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Audit Log — all changes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ระบบวาระ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Agenda-based Module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ระบบบริหารวาระและสร้างคำสั่งราชการอัตโนมัติ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65176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&amp; Agenda Management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15468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บริหารวาระสำคัญของ ตร. · กำหนดเป้าหมาย · ผู้รับผิดชอบ · ตัวชี้วัด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42900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Command Drafting (PoC 1)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93192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ร่างหนังสือสั่งการจาก 5 keywords · ภาษาราชการมาตรฐาน · 4 รูปแบบกรณี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420624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&amp; Cascading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70916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กระจายภารกิจไปยังหน่วยปฏิบัติ · กำหนด KPI ต่อหน่วย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25880" y="498348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Form Builder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48640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สร้างแบบฟอร์มแบบ No-Code · Drag &amp; Drop · 10+ template พร้อมใช้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DETAIL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Module — AI Drafting Pipeline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05840" y="2743200"/>
            <a:ext cx="2011680" cy="1371600"/>
          </a:xfrm>
          <a:prstGeom prst="rect">
            <a:avLst/>
          </a:prstGeom>
          <a:solidFill>
            <a:srgbClr val="1E3A5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432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Keywords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3429000"/>
            <a:ext cx="27432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91840" y="2743200"/>
            <a:ext cx="2011680" cy="1371600"/>
          </a:xfrm>
          <a:prstGeom prst="rect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7432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Police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3429000"/>
            <a:ext cx="27432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77840" y="2743200"/>
            <a:ext cx="2011680" cy="1371600"/>
          </a:xfrm>
          <a:prstGeom prst="rect">
            <a:avLst/>
          </a:prstGeom>
          <a:solidFill>
            <a:srgbClr val="1E3A5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7432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3429000"/>
            <a:ext cx="27432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863840" y="2743200"/>
            <a:ext cx="2011680" cy="1371600"/>
          </a:xfrm>
          <a:prstGeom prst="rect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27432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Validate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875520" y="3429000"/>
            <a:ext cx="27432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49840" y="2743200"/>
            <a:ext cx="2011680" cy="1371600"/>
          </a:xfrm>
          <a:prstGeom prst="rect">
            <a:avLst/>
          </a:prstGeom>
          <a:solidFill>
            <a:srgbClr val="1E3A5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9840" y="27432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Draft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Preset cases (ตาม TOR 2.2.2):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120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ก่อเหตุประท้วง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5532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priority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502920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5120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ภัยพิบัติฉุกเฉิน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20440" y="5532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502920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5120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งานสำคัญพิเศษ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5532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ถวายความปลอดภัย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15400" y="502920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98280" y="5120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งานทั่วไป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98280" y="5532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ระบบกฎระเบียบ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Compliance-based Module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รวมศูนย์ติดตามการรายงานและประเมินผลตามมาตรฐานราชการ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65176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ก.พ.ร. — ผลการปฏิบัติราชการ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15468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รายไตรมาส · ตัวชี้วัด 12+ · ส่งสำนักงาน ก.พ.ร. อัตโนมัติ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42900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 Assessment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93192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Transparency · 28 ตัวชี้วัด · ส่งผ่านระบบกลาง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420624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PMQA Self-Assessment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70916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หมวด · Checklist + คะแนนคาดการณ์ · พร้อมส่งจริง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25880" y="498348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Submission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48640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DOCX · ส่ง online · ติดตามผลตอบกลับจาก ก.พ.ร.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· DETAIL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— Self-Assessment Engine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4415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PMQA 6 หมวด — ครอบคลุมการประเมินภาครัฐ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834640"/>
            <a:ext cx="457200" cy="4114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834640"/>
            <a:ext cx="9722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— การกำกับดูแลองค์การ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3337560"/>
            <a:ext cx="457200" cy="4114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337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337560"/>
            <a:ext cx="9722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Planning — การวางแผนยุทธศาสตร์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3840480"/>
            <a:ext cx="457200" cy="4114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840480"/>
            <a:ext cx="9722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Focus — การให้ความสำคัญผู้รับบริการ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5840" y="4343400"/>
            <a:ext cx="457200" cy="4114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343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4343400"/>
            <a:ext cx="9722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Management — การวิเคราะห์ข้อมูล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05840" y="4846320"/>
            <a:ext cx="457200" cy="4114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846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4846320"/>
            <a:ext cx="9722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Development — การพัฒนาบุคลากร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05840" y="5349240"/>
            <a:ext cx="457200" cy="4114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349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00200" y="5349240"/>
            <a:ext cx="9722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 — กระบวนการปฏิบัติงาน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ระบบสั่งการ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&amp; Operation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หัวใจของระบบ EOP — Workflow คำสั่ง 9 สถานะ + Read Receipt + Auto-Escalation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65176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วงจร 9 สถานะ (TOR 4.1)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15468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ร่าง → เสนอ → อนุมัติ → เผยแพร่ → รับทราบ → ปฏิบัติ → ส่งผล → ตรวจ → ปิด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42900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Receipt + Acknowledgement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93192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ทราบทันทีว่าหน่วยใดอ่านแล้ว · เวลาที่อ่าน · ใครคือผู้รับทราบ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420624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 ลายเซ็นอิเล็กทรอนิกส์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70916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บันทึกผู้ลงนาม · timestamp · ป้องกัน repudiation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25880" y="498348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Notification + Auto-Escalation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48640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แจ้งเตือนผ่าน LINE/Email · escalate ถ้าไม่ตอบในเวลา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76072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76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325880" y="576072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25880" y="626364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ภาพรวมคำสั่งแต่ละสถานะ · drill-down ระดับหน่วยและพื้นที่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9 STATES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Workflow 9 สถานะ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หัวใจของระบบ Command &amp; Operation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51433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34640"/>
            <a:ext cx="11514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11514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ร่าง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704645" y="3291840"/>
            <a:ext cx="82296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791513" y="2743200"/>
            <a:ext cx="1151433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91513" y="2834640"/>
            <a:ext cx="11514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91513" y="3246120"/>
            <a:ext cx="11514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เสนอ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47518" y="3291840"/>
            <a:ext cx="82296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034386" y="2743200"/>
            <a:ext cx="1151433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34386" y="2834640"/>
            <a:ext cx="11514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34386" y="3246120"/>
            <a:ext cx="11514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90390" y="3291840"/>
            <a:ext cx="82296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77258" y="2743200"/>
            <a:ext cx="1151433" cy="1097280"/>
          </a:xfrm>
          <a:prstGeom prst="rect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7258" y="2834640"/>
            <a:ext cx="11514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77258" y="3246120"/>
            <a:ext cx="11514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เผยแพร่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33263" y="3291840"/>
            <a:ext cx="82296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20131" y="2743200"/>
            <a:ext cx="1151433" cy="1097280"/>
          </a:xfrm>
          <a:prstGeom prst="rect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0131" y="2834640"/>
            <a:ext cx="11514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20131" y="3246120"/>
            <a:ext cx="11514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รับทราบ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76136" y="3291840"/>
            <a:ext cx="82296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763004" y="2743200"/>
            <a:ext cx="1151433" cy="1097280"/>
          </a:xfrm>
          <a:prstGeom prst="rect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3004" y="2834640"/>
            <a:ext cx="11514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3004" y="3246120"/>
            <a:ext cx="11514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ปฏิบัติ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919009" y="3291840"/>
            <a:ext cx="82296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005877" y="2743200"/>
            <a:ext cx="1151433" cy="1097280"/>
          </a:xfrm>
          <a:prstGeom prst="rect">
            <a:avLst/>
          </a:prstGeom>
          <a:solidFill>
            <a:srgbClr val="1665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5877" y="2834640"/>
            <a:ext cx="11514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05877" y="3246120"/>
            <a:ext cx="11514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ส่งผล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161882" y="3291840"/>
            <a:ext cx="82296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248750" y="2743200"/>
            <a:ext cx="1151433" cy="1097280"/>
          </a:xfrm>
          <a:prstGeom prst="rect">
            <a:avLst/>
          </a:prstGeom>
          <a:solidFill>
            <a:srgbClr val="1665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48750" y="2834640"/>
            <a:ext cx="11514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248750" y="3246120"/>
            <a:ext cx="11514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404754" y="3291840"/>
            <a:ext cx="82296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491622" y="2743200"/>
            <a:ext cx="1151433" cy="1097280"/>
          </a:xfrm>
          <a:prstGeom prst="rect">
            <a:avLst/>
          </a:prstGeom>
          <a:solidFill>
            <a:srgbClr val="1665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491622" y="2834640"/>
            <a:ext cx="11514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491622" y="3246120"/>
            <a:ext cx="11514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ปิดงาน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4297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ทุกการ transition ระหว่างสถานะ ถูกบันทึก: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48463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4846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ผู้กระทำ (User + Role)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383280" y="48463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66160" y="4846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เวลา (Timestamp)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217920" y="48463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4846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หมายเหตุ (Comment)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9052560" y="484632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35440" y="4846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Before/After Status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XR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Command Center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ศูนย์ปฏิบัติการเสมือนจริง (Extended Reality) — มุมมอง 360°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65176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Screens 60-62 จอ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15468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แสดงข้อมูลพร้อมกัน 60-62 จอใน 360° ผู้ใช้หันมองได้รอบตัว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42900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Heatmap 3D + KPI 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93192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แผนที่เหตุการณ์ 3D · KPI real-time จาก 6 หน่วยงานพร้อมกัน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420624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Multi-window Operations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70916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 Command + Search + AI Draft + CCTV ในเวลาเดียวกัน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25880" y="498348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XR Headset x5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48640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≥ 1440×936/ตา · 6 DoF tracking · ≥ 90 Hz refresh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· IMMERSIVE 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Command Center — Virtual Workspace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ผู้บังคับบัญชาเห็นภาพรวมแบบ Immersive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094415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560320"/>
            <a:ext cx="2743200" cy="1645920"/>
          </a:xfrm>
          <a:prstGeom prst="rect">
            <a:avLst/>
          </a:prstGeom>
          <a:solidFill>
            <a:srgbClr val="166534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603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HEATMAP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2468880"/>
            <a:ext cx="2743200" cy="1463040"/>
          </a:xfrm>
          <a:prstGeom prst="rect">
            <a:avLst/>
          </a:prstGeom>
          <a:solidFill>
            <a:srgbClr val="B8860B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4688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LIVE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2651760"/>
            <a:ext cx="2743200" cy="164592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6517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QUEUE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92640" y="2468880"/>
            <a:ext cx="2468880" cy="1463040"/>
          </a:xfrm>
          <a:prstGeom prst="rect">
            <a:avLst/>
          </a:prstGeom>
          <a:solidFill>
            <a:srgbClr val="DC2626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0" y="24688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88720" y="4389120"/>
            <a:ext cx="3200400" cy="1554480"/>
          </a:xfrm>
          <a:prstGeom prst="rect">
            <a:avLst/>
          </a:prstGeom>
          <a:solidFill>
            <a:srgbClr val="475569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3891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MULTI-VIEW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4480560"/>
            <a:ext cx="3200400" cy="146304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44805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4389120"/>
            <a:ext cx="3931920" cy="1554480"/>
          </a:xfrm>
          <a:prstGeom prst="rect">
            <a:avLst/>
          </a:prstGeom>
          <a:solidFill>
            <a:srgbClr val="EA580C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438912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TIMELINE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Reality · 360° Immersive · 60+ floating screens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Management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AI ครอบคลุม 4 ฟีเจอร์หลัก + Big Data Analytics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65176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Classification (PoC 2)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15468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จำแนกเอกสาร 6 หน่วยงาน · accuracy ≥ 85% · รองรับ DOCX/PDF/XLSX/JPG/PNG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42900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ภาษาไทย (PoC 3)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93192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Vision Sonnet 4.5 · CER ≤ 10% · ตรงตามมาตรฐาน TOR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420624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Search 4 Modes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70916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· Advanced · Full-text · AI Semantic (เข้าใจ synonyms)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25880" y="498348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48640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พยากรณ์พื้นที่/เวลาเสี่ยง · ตรวจจับความผิดปกติ · Executive Summary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·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— Stack &amp; Pipeline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 Claude API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Haiku 4.5: command draft + classification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Sonnet 4.5: OCR (vision)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Cost: ~$0.001 per request (Haiku)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Latency: 3-10 sec typical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6060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→ mammoth/xlsx/sharp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extraction → Claude API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 → PostgreSQL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pgvector ready (semantic search)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log every action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394960"/>
            <a:ext cx="11094415" cy="822960"/>
          </a:xfrm>
          <a:prstGeom prst="rect">
            <a:avLst/>
          </a:prstGeom>
          <a:solidFill>
            <a:srgbClr val="B8860B">
              <a:alpha val="10000"/>
            </a:srgbClr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39496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ทดสอบจริงแล้ว: Doc Classification 95% accuracy · OCR CER 1.40% · Search semantic 5 sec response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ระบบความปลอดภัย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Security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ครอบคลุมมาตรฐาน CII + ก.พ.ร. + ISO 27001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65176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15468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(2FA/OTP) · RBAC 5 roles · JWT 8 hr session · SSO ready (SAML/OIDC)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42900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93192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in transit · AES-256 at rest · bcrypt one-way hash · No plaintext password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420624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70916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action ถูกบันทึก · ไม่สามารถลบ · เก็บ 7 ปี ตามระเบียบ สปน.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25880" y="498348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+ Anomaly Detection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48640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ตรวจสอบทุก request · IP geolocation · Brute force protection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76072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76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325880" y="576072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+ Disaster Recovery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25880" y="6263640"/>
            <a:ext cx="10180015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backup · Snapshot ทุก 4 ชม. · RPO ≤ 4hr · RTO ≤ 1hr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LAYERED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7 ชั้นการป้องกัน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 Architecture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9441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Edge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2103120"/>
            <a:ext cx="6888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+ DDoS protection + IP whitelist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70048"/>
            <a:ext cx="1109441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670048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700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Encryption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2670048"/>
            <a:ext cx="6888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+ Perfect Forward Secrecy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36976"/>
            <a:ext cx="1109441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236976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36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2369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3236976"/>
            <a:ext cx="6888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+ JWT + bcrypt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803904"/>
            <a:ext cx="1109441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803904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38039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(RBAC)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3803904"/>
            <a:ext cx="6888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 · row-level security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370832"/>
            <a:ext cx="1109441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370832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34440" y="43708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4370832"/>
            <a:ext cx="6888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(Zod) · CSRF · XSS protection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1109441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937760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34440" y="4937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Rest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20640" y="4937760"/>
            <a:ext cx="6888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 · Database TDE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504688"/>
            <a:ext cx="1109441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5504688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5504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34440" y="55046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Monitoring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20640" y="5504688"/>
            <a:ext cx="6888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· SIEM ready · Anomaly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COVERAGE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Coverage Matrix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ครอบคลุมทุกข้อใน TOR — Transparency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94360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Section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1.1-1.3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Module + 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Live + Real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2.1-2.3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+ AI Draft + Form Builder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Live + PoC 1 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3.1-3.2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Reports + Self-Assessment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UI + Mock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4.1-4.9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Workflow 9 States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Live + Real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5.1-5.10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XR Command Center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Concept + Mockup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6.1-6.4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AI (Class + OCR + Search)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Live + PoC 2-3 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6.10.3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Classification + OCR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Tested 100%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7.1-7.2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+ RBAC +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Live + bcrypt + JWT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+ Responsive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Mockup +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8.10.12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 Search 4 Modes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Live + Semantic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1 · 5 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Command Drafting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ช่วยร่างหนังสือสั่งการจาก 5 keywords — Live · Real-time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14255" y="548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5486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5 Keywords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หัวเรื่อง (Subject)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วัตถุประสงค์ (Objective)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หน่วยรับ (Recipient)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ระยะเวลา (Deadline)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ลำดับความสำคัญ (Priority)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286000"/>
            <a:ext cx="5852160" cy="3931920"/>
          </a:xfrm>
          <a:prstGeom prst="rect">
            <a:avLst/>
          </a:prstGeom>
          <a:solidFill>
            <a:srgbClr val="EEF1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468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Formal Thai Police Letter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88036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อ้างถึง: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หนังสือ ตร. ที่ ๐๐๐๑.๖๙/๔๒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วัตถุประสงค์: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ตรวจความพร้อมของสถานี ไตรมาส ๒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เนื้อหา: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จึงสั่งการให้ดำเนินการดังต่อไปนี้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๑. ให้ผู้กำกับการสถานี ทุกแห่ง...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๒. ให้ตรวจสอบ กำลังพล อุปกรณ์...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๓. ส่งผลการตรวจภายใน ๓๐ พ.ค.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1 · 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Command Drafting — Technical Flow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6066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286000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ผู้ใช้กรอกข้อมูล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26922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keyword + เลือก preset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2498" y="2103120"/>
            <a:ext cx="36066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75378" y="228600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537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69738" y="2286000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69738" y="2788920"/>
            <a:ext cx="26922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Police context + formal style rules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36357" y="2103120"/>
            <a:ext cx="36066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9237" y="228600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9237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13597" y="2286000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13597" y="2788920"/>
            <a:ext cx="26922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JSON: reference + objective + body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36066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25880" y="4297680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Format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4800600"/>
            <a:ext cx="26922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JSON · format Thai numerals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2498" y="4114800"/>
            <a:ext cx="36066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75378" y="429768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75378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069738" y="4297680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Audit Log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69738" y="4800600"/>
            <a:ext cx="26922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· time · user · prompt used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36357" y="4114800"/>
            <a:ext cx="36066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19237" y="429768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19237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813597" y="4297680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+ Save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813597" y="4800600"/>
            <a:ext cx="26922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output · ผู้ใช้กดบันทึกเป็นร่าง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1 · DEMO RESULT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Command Draft — Real Test Result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ทดสอบจริงด้วย preset 'งานทั่วไป'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94560"/>
            <a:ext cx="26517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21945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194560"/>
            <a:ext cx="265176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2,070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56616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Used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945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194560"/>
            <a:ext cx="2651760" cy="5486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$0.001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0080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Draft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0" y="219456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2194560"/>
            <a:ext cx="260604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23774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235440" y="3017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11094415" cy="2468880"/>
          </a:xfrm>
          <a:prstGeom prst="rect">
            <a:avLst/>
          </a:prstGeom>
          <a:solidFill>
            <a:srgbClr val="EEF1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84048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206240"/>
            <a:ext cx="10545775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"จึงสั่งการให้ดำเนินการดังต่อไปนี้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๑. ให้หัวหน้าหน่วยงานและหน่วยปฏิบัติทั้งหมด ดำเนินการจัดเก็บข้อมูล วิเคราะห์ผล และจัดทำรายงานผลการปฏิบัติราชการตามตัวชี้วัด ก.พ.ร. ไตรมาสที่ ๒ ให้ครบถ้วนถูกต้อง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๒. รายงานต้องประกอบด้วย ผลการดำเนินงาน ปัญหา อุปสรรค และข้อเสนอแนะ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๓. ส่งภายในวันที่ ๓๐ พฤษภาคม ๒๕๖๙"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1 · USE CASES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Drafting — 4 รูปแบบกรณี ตาม TOR 2.2.2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54720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5547208" cy="64008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518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ก่อเหตุประท้วง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499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4998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การเตรียมความพร้อมรับมือการชุมนุม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ในพื้นที่ บก.น. ๕ ทุกหน่วย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7288" y="2103120"/>
            <a:ext cx="554720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7288" y="2103120"/>
            <a:ext cx="5547208" cy="6400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0168" y="2103120"/>
            <a:ext cx="518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ภัยพิบัติฉุกเฉิน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61608" y="2880360"/>
            <a:ext cx="499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61608" y="3200400"/>
            <a:ext cx="4998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การช่วยเหลือผู้ประสบอุทกภัย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ในพื้นที่ภาคใต้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554720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297680"/>
            <a:ext cx="5547208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97680"/>
            <a:ext cx="518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งานสำคัญพิเศษ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5074920"/>
            <a:ext cx="499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5394960"/>
            <a:ext cx="4998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การถวายความปลอดภัย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ในการเสด็จพระราชดำเนิน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87288" y="4297680"/>
            <a:ext cx="554720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7288" y="4297680"/>
            <a:ext cx="5547208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0168" y="4297680"/>
            <a:ext cx="518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งานทั่วไป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61608" y="5074920"/>
            <a:ext cx="499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61608" y="5394960"/>
            <a:ext cx="4998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การจัดทำรายงาน ก.พ.ร.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ประจำไตรมาส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2 · 10 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Classification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จำแนกเอกสารตามหน่วยงาน 6 หมวด — รองรับ 5 file formats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14255" y="548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ไฟล์เอกสารใดๆ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DOCX (mammoth)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XLSX / XLS (xlsx lib)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PDF (Claude native)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JPG / PNG (Claude Vision)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TXT (plain text)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2286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หน่วยงานเจ้าของเรื่อง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274320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ยศ. — กองยุทธศาสตร์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ผบ. — กองแผนงานอำนวยการ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มค. — กองแผนงานความมั่นคง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มข. — กองแผนงานกิจการพิเศษ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วจ. — กองวิจัย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อจ. — ฝ่ายอำนวยการ สยศ.ตร.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1094415" cy="1005840"/>
          </a:xfrm>
          <a:prstGeom prst="rect">
            <a:avLst/>
          </a:prstGeom>
          <a:solidFill>
            <a:srgbClr val="B8860B">
              <a:alpha val="10000"/>
            </a:srgbClr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21208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Target: ≥ 85% accuracy → ทดสอบจริง 100% (3/3 cases) — exceeded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2 · TAXONOMY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หน่วยงาน · Taxonomy ที่ AI เรียนรู้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54720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109728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1097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ยศ.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0" y="2194560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กองยุทธศาสตร์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265176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แผนยุทธศาสตร์ระยะยาว · KPI ก.พ.ร. · แผนปฏิบัติราชการ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7288" y="2011680"/>
            <a:ext cx="554720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7288" y="2011680"/>
            <a:ext cx="109728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7288" y="2011680"/>
            <a:ext cx="1097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ผบ.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67448" y="2194560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กองแผนงานอำนวยการ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67448" y="265176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งานบริหารทั่วไป · บุคคล · สวัสดิการ · งบประมาณ · พัสดุ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554720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474720"/>
            <a:ext cx="109728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74720"/>
            <a:ext cx="1097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มค.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828800" y="3657600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กองแผนงานความมั่นคง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41148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ความมั่นคง · ชุมนุม · ก่อการร้าย · ข่าวกรอง · ปราบปรามอาชญากรรมรุนแรง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87288" y="3474720"/>
            <a:ext cx="554720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7288" y="3474720"/>
            <a:ext cx="109728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7288" y="3474720"/>
            <a:ext cx="1097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มข.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67448" y="3657600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กองแผนงานกิจการพิเศษ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67448" y="41148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ภัยพิบัติ · ถวายความปลอดภัย · พระราชพิธี · กิจกรรมพิเศษ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937760"/>
            <a:ext cx="554720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937760"/>
            <a:ext cx="109728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937760"/>
            <a:ext cx="1097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วจ.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828800" y="5120640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กองวิจัย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828800" y="55778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วิจัยและพัฒนา · สถิติ · นวัตกรรม · ประเมินผลโครงการ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87288" y="4937760"/>
            <a:ext cx="554720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87288" y="4937760"/>
            <a:ext cx="109728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7288" y="4937760"/>
            <a:ext cx="1097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อจ.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67448" y="5120640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ฝ่ายอำนวยการ สยศ.ตร.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67448" y="55778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เลขานุการ · ประสานงาน · สารบรรณ · ITA · ประชุม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2 · TEST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— 3 cases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ทดสอบจริง 100% accuracy</a:t>
            </a:r>
            <a:endParaRPr lang="en-US" sz="1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828800"/>
                <a:gridCol w="137160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research-report.txt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วจ.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วจ.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budget-request.txt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ผบ.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ผบ.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security-ops.txt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มค.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มค.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029200"/>
            <a:ext cx="11094415" cy="1188720"/>
          </a:xfrm>
          <a:prstGeom prst="rect">
            <a:avLst/>
          </a:prstGeom>
          <a:solidFill>
            <a:srgbClr val="166534">
              <a:alpha val="10000"/>
            </a:srgbClr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 / 3 cases passed · 100% accuracy · เกินเป้า TOR (≥ 85%)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เฉลี่ย 95% · Response time เฉลี่ย 3.5 วินาที · Tokens เฉลี่ย 1,800/case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2 · MULTI-FORMAT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Support — 5 รูปแบบไฟล์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6.10.3(ง)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1828800" cy="6858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60320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mammoth.js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2194560"/>
            <a:ext cx="5973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documents · extract raw 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880360"/>
            <a:ext cx="1828800" cy="6858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80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XLSX/XLS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60320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SheetJS xlsx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2971800"/>
            <a:ext cx="5973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spreadsheets · sheet → CSV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57600"/>
            <a:ext cx="1828800" cy="6858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57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56032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Native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3749040"/>
            <a:ext cx="5973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PDF input (base64)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434840"/>
            <a:ext cx="1828800" cy="6858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434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JPG/PNG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560320" y="4526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Vision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4526280"/>
            <a:ext cx="5973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OCR + visual content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212080"/>
            <a:ext cx="1828800" cy="6858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212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560320" y="5303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UTF-8 reader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35040" y="5303520"/>
            <a:ext cx="5973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passthrough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3 · 10 PT (รวม Search)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ภาษาไทย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Character Recognition ภาษาไทย — CER 1.40% · เกินเป้า 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14255" y="548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 (รวม Search)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ภาพเอกสารราชการ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74320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สำนักงานยุทธศาสตร์ตำรวจ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 ตร ๐๐๐๑.๖๙/๐๐๑๒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เรื่อง รายงานผลการปฏิบัติงาน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เรียน ผู้บัญชาการตำรวจแห่งชาติ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[ภาพ JPG / PNG · 800×500 px]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194560"/>
            <a:ext cx="5852160" cy="4023360"/>
          </a:xfrm>
          <a:prstGeom prst="rect">
            <a:avLst/>
          </a:prstGeom>
          <a:solidFill>
            <a:srgbClr val="EEF1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331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Extracted Text: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74320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สำนักงานยุทธศาสตร์ตำรวจ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 ตร ๐๐๐๑.๖๙/๐๐๑๒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เรื่อง รายงานผลการปฏิบัติงาน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เรียน ผู้บัญชาการตำรวจแห่งชาติ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ด้วยกองยุทธศาสตร์ตำรวจ ได้ดำเนิน...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3 · OCR · CER RESULT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Result — CER 1.40%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เป้าหมาย TOR: CER ≤ 10% · ทีมเราทำได้ดีกว่ามาก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86000"/>
            <a:ext cx="2651760" cy="5486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68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(เป้า ≤ 10%)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22860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286000"/>
            <a:ext cx="265176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468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56616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286000"/>
            <a:ext cx="26517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468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0" y="22860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2286000"/>
            <a:ext cx="260604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2468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235440" y="3200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9319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Scoring (ตามมาตรฐาน TOR 6.10.3(ค)):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11094415" cy="36576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≤ 10%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4904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443484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ทีมเราได้คะแนนนี้ (1.40%)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846320"/>
            <a:ext cx="11094415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10-20%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4904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77840" y="484632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20-30%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49040" y="5257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pt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77840" y="525780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669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&gt; 30%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749040" y="5669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77840" y="566928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3 · SEARCH 4 MODES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Search — 4 โหมดค้นหา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8.10.12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54864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Search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ค้นจาก subject + docNo + recipient · 200ms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71455" y="2331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63240"/>
            <a:ext cx="54864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632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status · priority · date range · unit · 500ms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71455" y="3291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023360"/>
            <a:ext cx="54864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233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of terms ใน body + objective + reference · 800ms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71455" y="4251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983480"/>
            <a:ext cx="548640" cy="8686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9834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28016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Semantic Search ⭐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801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เข้าใจ synonyms · context · ใช้ Claude rank · 5s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71455" y="5212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Smart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3 · AI SEMANTIC EXAMPLE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Semantic Search — ตัวอย่างความฉลาด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94415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คำค้น: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2331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"งานที่เกี่ยวกับการประเมินผล"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1094415" cy="1005840"/>
          </a:xfrm>
          <a:prstGeom prst="rect">
            <a:avLst/>
          </a:prstGeom>
          <a:solidFill>
            <a:srgbClr val="B8860B">
              <a:alpha val="10000"/>
            </a:srgbClr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เข้าใจว่า: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"ผู้ใช้กำลังค้นหาเอกสารที่เกี่ยวข้องกับการประเมินผล/ติดตามผล (evaluation, assessment, monitoring results) ทั้งการประเมินผลปฏิบัติงาน การประชุมคณะประเมิน และการติดตามผลโครงการ"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ผลลัพธ์ (เรียงตาม relevance):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1109441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846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ตรวจสอบผลปฏิบัติงาน...ยาเสพติด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4846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 — เป็นการประเมินผลโดยตรง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28655" y="4846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349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รายงานผลการกวาดล้างแหล่งอบายมุข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5349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results — รายงานติดตามผลปฏิบัติ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28655" y="5349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852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ขอเชิญประชุมคณะกรรมการประเมิน ITA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5852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committee — คณะประเมิน ITA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28655" y="5852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4 · 5 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Command Center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Reality Command Center — 60+ floating screens · 360° immersive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14255" y="548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55472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246888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Screens 60-62 จอ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97180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แสดงพร้อมกัน · floating in 360°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87288" y="2286000"/>
            <a:ext cx="55472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70168" y="246888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016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64528" y="246888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Heatmap 3D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64528" y="297180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แผนที่เหตุการณ์เชิงพื้นที่ 3 มิติ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5472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25880" y="402336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Live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452628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จาก 6 หน่วยพร้อมกัน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7288" y="3840480"/>
            <a:ext cx="55472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70168" y="402336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016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64528" y="402336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Multi-window Ops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64528" y="452628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+ Search + AI + CCTV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11094415" cy="822960"/>
          </a:xfrm>
          <a:prstGeom prst="rect">
            <a:avLst/>
          </a:prstGeom>
          <a:solidFill>
            <a:srgbClr val="B8860B">
              <a:alpha val="10000"/>
            </a:srgbClr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39496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5 × XR Headset (Meta Quest 3+ หรือเทียบเท่า) · 5 × Workstation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4 · VR SCENE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Command Center — Immersive Workspace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94415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77440"/>
            <a:ext cx="0" cy="374904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2377440"/>
            <a:ext cx="0" cy="374904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377440"/>
            <a:ext cx="0" cy="374904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2377440"/>
            <a:ext cx="0" cy="374904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377440"/>
            <a:ext cx="0" cy="374904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2377440"/>
            <a:ext cx="0" cy="374904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52560" y="2377440"/>
            <a:ext cx="0" cy="374904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2377440"/>
            <a:ext cx="0" cy="374904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468880"/>
            <a:ext cx="2286000" cy="1371600"/>
          </a:xfrm>
          <a:prstGeom prst="rect">
            <a:avLst/>
          </a:prstGeom>
          <a:solidFill>
            <a:srgbClr val="166534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688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HEATMAP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2377440"/>
            <a:ext cx="2286000" cy="1280160"/>
          </a:xfrm>
          <a:prstGeom prst="rect">
            <a:avLst/>
          </a:prstGeom>
          <a:solidFill>
            <a:srgbClr val="B8860B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3774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LIVE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หน่วยงาน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2560320"/>
            <a:ext cx="2286000" cy="1371600"/>
          </a:xfrm>
          <a:prstGeom prst="rect">
            <a:avLst/>
          </a:prstGeom>
          <a:solidFill>
            <a:srgbClr val="0EA5E9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5603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2377440"/>
            <a:ext cx="2286000" cy="1280160"/>
          </a:xfrm>
          <a:prstGeom prst="rect">
            <a:avLst/>
          </a:prstGeom>
          <a:solidFill>
            <a:srgbClr val="DC2626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23774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5840" y="4114800"/>
            <a:ext cx="2468880" cy="1554480"/>
          </a:xfrm>
          <a:prstGeom prst="rect">
            <a:avLst/>
          </a:prstGeom>
          <a:solidFill>
            <a:srgbClr val="475569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1148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4206240"/>
            <a:ext cx="2468880" cy="1463040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42062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4114800"/>
            <a:ext cx="2468880" cy="1554480"/>
          </a:xfrm>
          <a:prstGeom prst="rect">
            <a:avLst/>
          </a:prstGeom>
          <a:solidFill>
            <a:srgbClr val="EA580C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1148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35440" y="4206240"/>
            <a:ext cx="1828800" cy="1463040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0" y="42062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Reality · 360° View · 8+ floating panels in immersive workspace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 PoC — 30 / 30 คะแนน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ทีมเราพร้อมและทำงานได้จริงทุก PoC</a:t>
            </a:r>
            <a:endParaRPr lang="en-US" sz="16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  <a:gridCol w="2286000"/>
                <a:gridCol w="2743200"/>
                <a:gridCol w="14630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ฟีเจอร์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ผลที่ทำได้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คะแนน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Command Draft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10.4s · 95%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≥ 85% accuracy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(3/3 cases)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ภาษาไทย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CER ≤ 10%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 1.40%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XR Command Center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Concept + Demo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Mockup + 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120640"/>
            <a:ext cx="11094415" cy="10972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รวมทั้งสิ้น: 30 / 30 คะแนน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PoC ทำงานได้จริง · ทดสอบจริง · มีหลักฐาน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On-Premise + HA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· Compute · Storage · Network · End-user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60669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3606698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0312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Data Center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73152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8346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Nodes (App x3, DB x3, AI x3)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73152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61188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20+ TB · Backup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73152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891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40U · UPS x2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166360"/>
            <a:ext cx="73152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16636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HA + Live Migration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2498" y="2103120"/>
            <a:ext cx="360669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2498" y="2103120"/>
            <a:ext cx="3606698" cy="5486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5378" y="210312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75378" y="2834640"/>
            <a:ext cx="73152" cy="4114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58258" y="28346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Fiber x2 (500 Mbps)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75378" y="3611880"/>
            <a:ext cx="73152" cy="4114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58258" y="361188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Switch x2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75378" y="4389120"/>
            <a:ext cx="73152" cy="4114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8258" y="43891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Firewall (NGFW)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75378" y="5166360"/>
            <a:ext cx="73152" cy="4114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58258" y="516636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Public IP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36357" y="2103120"/>
            <a:ext cx="360669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36357" y="2103120"/>
            <a:ext cx="3606698" cy="5486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19237" y="210312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Stack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219237" y="2834640"/>
            <a:ext cx="73152" cy="4114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02117" y="28346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· AES-256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19237" y="3611880"/>
            <a:ext cx="73152" cy="4114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02117" y="361188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+ RBAC + JWT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19237" y="4389120"/>
            <a:ext cx="73152" cy="4114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02117" y="43891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(7 years)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19237" y="5166360"/>
            <a:ext cx="73152" cy="4114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02117" y="516636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+ Anomaly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— 9 Server Nodes + Storage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ตอบ TOR section 5.6-5.7 ครบ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9441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91440" cy="7315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Node × 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20-core · RAM 256 GB ECC DDR4 · NVMe SSD 2 TB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23544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+ API serving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1109441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6080"/>
            <a:ext cx="91440" cy="7315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Node ×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3017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20-core · RAM 256 GB ECC · NVMe SSD 4 TB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235440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HA cluster (Patroni)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109441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749040"/>
            <a:ext cx="91440" cy="7315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Node ×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0" y="3840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32-core · GPU 40 GB VRAM · 14,000 CUDA cores · NVMe 4 TB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3544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inference + caching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109441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572000"/>
            <a:ext cx="91440" cy="7315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663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Storage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0" y="4663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All-NVMe ≥ 20 TB · RAID-6 · Snapshot ทุก 4 ชม.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35440" y="4663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storage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394960"/>
            <a:ext cx="1109441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394960"/>
            <a:ext cx="91440" cy="7315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486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Storage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0" y="5486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Immutable · WORM · Air-gapped · ≥ 40 TB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35440" y="5486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Ransomware-resistant backup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ISP + Layered Security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1645920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860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(ISP 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383280"/>
            <a:ext cx="1645920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(ISP B)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834640"/>
            <a:ext cx="164592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834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2286000"/>
            <a:ext cx="16459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2860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Switch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3383280"/>
            <a:ext cx="16459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Switch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0" y="1645920"/>
            <a:ext cx="1645920" cy="822960"/>
          </a:xfrm>
          <a:prstGeom prst="rect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1645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 Nodes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0" y="2834640"/>
            <a:ext cx="1645920" cy="822960"/>
          </a:xfrm>
          <a:prstGeom prst="rect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834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 Nodes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0" y="4023360"/>
            <a:ext cx="1645920" cy="822960"/>
          </a:xfrm>
          <a:prstGeom prst="rect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4023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 Nodes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58400" y="2286000"/>
            <a:ext cx="1645920" cy="822960"/>
          </a:xfrm>
          <a:prstGeom prst="rect">
            <a:avLst/>
          </a:prstGeom>
          <a:solidFill>
            <a:srgbClr val="1665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0" y="22860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058400" y="3383280"/>
            <a:ext cx="1645920" cy="822960"/>
          </a:xfrm>
          <a:prstGeom prst="rect">
            <a:avLst/>
          </a:prstGeom>
          <a:solidFill>
            <a:srgbClr val="1665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0" y="2697480"/>
            <a:ext cx="640080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560320" y="3794760"/>
            <a:ext cx="640080" cy="-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46320" y="3108960"/>
            <a:ext cx="640080" cy="-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46320" y="3383280"/>
            <a:ext cx="640080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32320" y="2697480"/>
            <a:ext cx="640080" cy="-6400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132320" y="2697480"/>
            <a:ext cx="640080" cy="5486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132320" y="3794760"/>
            <a:ext cx="640080" cy="6400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418320" y="3246120"/>
            <a:ext cx="640080" cy="-5486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418320" y="3246120"/>
            <a:ext cx="640080" cy="5486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paths · Failover automatic · No single point of failure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— Modern + Open Source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 vendor lock-in · ลดค่า license 30%+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682164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2682164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268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2133524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16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CSS v4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Recharts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Lucide Icons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67964" y="2103120"/>
            <a:ext cx="2682164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7964" y="2103120"/>
            <a:ext cx="2682164" cy="5486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7964" y="2103120"/>
            <a:ext cx="268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42284" y="2834640"/>
            <a:ext cx="2133524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20 LTS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Auth.js v5 (NextAuth)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Zod validation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Components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7288" y="2103120"/>
            <a:ext cx="2682164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7288" y="2103120"/>
            <a:ext cx="2682164" cy="5486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7288" y="2103120"/>
            <a:ext cx="268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61608" y="2834640"/>
            <a:ext cx="2133524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15+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 7 ORM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pgvector (semantic)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Patroni (HA)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PgBouncer (pooler)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611" y="2103120"/>
            <a:ext cx="2682164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611" y="2103120"/>
            <a:ext cx="26821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611" y="2103120"/>
            <a:ext cx="268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80931" y="2834640"/>
            <a:ext cx="2133524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Claude API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Haiku 4.5 (fast)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Sonnet 4.5 (vision)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mammoth.js (DOCX)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xlsx (Excel)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— Multi-Layer Protection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50148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73152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4028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504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+ Perfect Forward Secrecy · ทุก request เข้ารหัส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7288" y="2103120"/>
            <a:ext cx="550148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87288" y="2103120"/>
            <a:ext cx="73152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1608" y="224028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61608" y="2697480"/>
            <a:ext cx="504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Database Encryption · ดิสก์เข้ารหัสทั้งหมด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50148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74720"/>
            <a:ext cx="73152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1188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069080"/>
            <a:ext cx="504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snapshots + Immutable storage · ป้องกัน ransomware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7288" y="3474720"/>
            <a:ext cx="550148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7288" y="3474720"/>
            <a:ext cx="73152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1608" y="361188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61608" y="4069080"/>
            <a:ext cx="504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one-way hash (cost 10) · ไม่มี plaintext password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550148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846320"/>
            <a:ext cx="73152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98348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Handling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5440680"/>
            <a:ext cx="504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sensitive fields ใน logs · GDPR + PDPA compliant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87288" y="4846320"/>
            <a:ext cx="550148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7288" y="4846320"/>
            <a:ext cx="73152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498348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61608" y="5440680"/>
            <a:ext cx="504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KMS-equivalent · auto-rotation · separate per env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 (RBAC)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441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2286000" cy="62179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10312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ผู้ดูแลระบบ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56080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สิทธิ์เต็มในการจัดการระบบ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1109441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816352"/>
            <a:ext cx="228600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1635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281635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ผู้บังคับบัญชา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816352"/>
            <a:ext cx="56080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อนุมัติคำสั่ง + e-Signature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1109441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529584"/>
            <a:ext cx="2286000" cy="62179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2958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352958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เจ้าหน้าที่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529584"/>
            <a:ext cx="56080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ร่างและส่งคำสั่ง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42816"/>
            <a:ext cx="1109441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242816"/>
            <a:ext cx="2286000" cy="6217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4281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17520" y="424281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ผู้ตรวจสอบ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4242816"/>
            <a:ext cx="56080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ตรวจผลการปฏิบัติงาน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956048"/>
            <a:ext cx="1109441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956048"/>
            <a:ext cx="2286000" cy="6217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9560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17520" y="495604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ผู้ดูข้อมูล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4956048"/>
            <a:ext cx="56080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ดูข้อมูลอย่างเดียว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852160"/>
            <a:ext cx="11094415" cy="640080"/>
          </a:xfrm>
          <a:prstGeom prst="rect">
            <a:avLst/>
          </a:prstGeom>
          <a:solidFill>
            <a:srgbClr val="B8860B">
              <a:alpha val="10000"/>
            </a:srgbClr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8521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สนับสนุน · JWT 8-hour session · SAML/OIDC SSO ready · Anomaly detection on login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— บันทึกทุกการกระทำ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7.1.5 · 7 ปี · ไม่สามารถลบหรือแก้ไข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 audit events ที่ระบบบันทึก: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94415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auth.login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2651760"/>
            <a:ext cx="6888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(success/fail)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1094415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command.create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3063240"/>
            <a:ext cx="6888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สร้างคำสั่งใหม่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11094415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command.submit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3474720"/>
            <a:ext cx="6888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ส่งคำสั่งเพื่อพิจารณา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11094415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86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command.approve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3886200"/>
            <a:ext cx="6888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อนุมัติคำสั่ง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11094415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297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ai.command.draft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4297680"/>
            <a:ext cx="6888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ร่างคำสั่ง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11094415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709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ai.document.classify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4709160"/>
            <a:ext cx="6888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จำแนกเอกสาร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120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ai.ocr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5120640"/>
            <a:ext cx="6888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ภาษาไทย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532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search.semantic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5532120"/>
            <a:ext cx="6888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Semantic Search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event เก็บ: user · role · timestamp · target · details (JSON)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&amp; Business Continuity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94415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99.95% Availability · RPO ≤ 4 hr · RTO ≤ 1 hr · Backup retention 7 years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109441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Automatic Failover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3566160"/>
            <a:ext cx="7345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cluster + App tier — failover ทันที (&lt;60 sec)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1109441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Snapshot Schedule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4069080"/>
            <a:ext cx="7345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4 ชม. · เก็บ 30 วัน · Immutable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Backup Validation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4572000"/>
            <a:ext cx="7345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test รายเดือน · log restore 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074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DR Drill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5074920"/>
            <a:ext cx="7345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6 เดือน · simulate disaster + measure RTO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577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Multi-AZ Standby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5577840"/>
            <a:ext cx="7345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ระบบสำรอง อยู่คนละ rack/zone กับ primary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 (Critical Information Infrastructure) Compliance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เป็นไปตามมาตรฐานความปลอดภัยภาครัฐ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50148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CII.1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MFA + RBAC + JWT + bcrypt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7288" y="2103120"/>
            <a:ext cx="550148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0168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CII.2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70168" y="246888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70168" y="260604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VLAN + Firewall + DMZ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550148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54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CII.3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42900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56616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TLS 1.3 + AES-256 at rest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87288" y="3063240"/>
            <a:ext cx="550148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0168" y="3154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CII.4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70168" y="342900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Monitoring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70168" y="356616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7-year retention + SIEM ready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550148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114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CII.5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38912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452628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Runbook + DR drill + escalation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87288" y="4023360"/>
            <a:ext cx="550148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0168" y="4114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CII.6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70168" y="438912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Mgmt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70168" y="452628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 patching + Pen test ปีละครั้ง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983480"/>
            <a:ext cx="550148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074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CII.7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534924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" y="548640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PDPA + GDPR compliant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87288" y="4983480"/>
            <a:ext cx="550148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0168" y="5074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CII.8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70168" y="534924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Security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70168" y="548640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 Center access control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Scalability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ออกแบบรองรับ 1,000+ concurrent users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86000"/>
            <a:ext cx="26517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68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22860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286000"/>
            <a:ext cx="265176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468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200ms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56616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(p95)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286000"/>
            <a:ext cx="2651760" cy="5486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468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500ms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(p95)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0" y="22860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2286000"/>
            <a:ext cx="260604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2468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99.95%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235440" y="3200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SLA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9319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Strategy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1109441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434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Horizontal Scaling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4434840"/>
            <a:ext cx="7345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tier + AI tier — add nodes แบบ no downtime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1109441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892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Database Read Replicas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63440" y="4892040"/>
            <a:ext cx="7345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 read traffic ออกจาก master · ลด latency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349240"/>
            <a:ext cx="1109441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349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CDN + Caching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63440" y="5349240"/>
            <a:ext cx="7345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assets + AI responses cached · 90%+ hit rate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806440"/>
            <a:ext cx="1109441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806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Connection Pooling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63440" y="5806440"/>
            <a:ext cx="7345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PgBouncer · จัดสรร connections เป็น efficient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— 240 วัน / 8 เดือน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งวด · Milestones ชัดเจน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9441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7315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6304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งวด 1: Foundation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1-60 (60 วัน)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21945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· Auth + RBAC · Sidebar 20 หน้า · Real Dashboard · Core APIs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271455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71455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1109441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108960"/>
            <a:ext cx="731520" cy="9144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089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46304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งวด 2: Core Modules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61-120 (60 วัน)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3200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Workflow (9 states) · Document Management · AI PoC 1+2+3 (live) · Audit Log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271455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271455" y="3703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109441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114800"/>
            <a:ext cx="7315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148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46304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งวด 3: Advanced + XR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121-180 (60 วัน)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4206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Command Center · Predictive Analytics · All 7 systems · GIS Integration · Mobile App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271455" y="4297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27.6M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271455" y="4709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120640"/>
            <a:ext cx="1109441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120640"/>
            <a:ext cx="731520" cy="9144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120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46304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งวด 4: Polish + Go-Live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463040" y="5577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181-240 (60 วัน)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52120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(3 rounds) · Training (200+ users) · Documentation · Security Audit · Production Go-Live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271455" y="5303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18.4M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0271455" y="5715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 ต่อ Milestone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54720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5547208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Day 60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99856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Project kickoff + Requirements final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Database schema + Migration scripts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Auth.js + RBAC + Audit Log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Sidebar navigation 20 หน้า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Dashboard real-time + KPI charts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7288" y="2103120"/>
            <a:ext cx="554720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87288" y="2103120"/>
            <a:ext cx="5547208" cy="457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0168" y="21031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Day 120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61608" y="2651760"/>
            <a:ext cx="499856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Command Workflow 9 states + Read Receipt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Document Management + Classification (PoC 2)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Command Draft (PoC 1)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OCR + Search 4 modes (PoC 3)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Compliance Reports (ก.พ.ร./ITA/PMQA)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54720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297680"/>
            <a:ext cx="5547208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9768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Day 180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499856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XR Command Center (PoC 4)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Predictive Analytics + Anomaly Detection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GIS Heatmap + 191/CCTV integration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Mobile App (iOS + Android)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Performance test + Load test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7288" y="4297680"/>
            <a:ext cx="554720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7288" y="4297680"/>
            <a:ext cx="5547208" cy="457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0168" y="429768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Day 240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61608" y="4846320"/>
            <a:ext cx="499856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UAT (3 rounds, ≥ 95% pass)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Training 200+ users + Admin 50 คน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Documentation ครบ (User + Admin + Dev)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Security audit + Pen test (3rd party)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Production Go-Live + 24×7 Support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— 17 คน · Multi-Disciplinary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ทีมงานเฉพาะทางครบทุกสายเทคโนโลยี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6821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54864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1767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(PMP)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67964" y="2103120"/>
            <a:ext cx="26821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7964" y="2103120"/>
            <a:ext cx="54864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7964" y="21031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099484" y="2103120"/>
            <a:ext cx="1767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7288" y="2103120"/>
            <a:ext cx="26821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7288" y="2103120"/>
            <a:ext cx="548640" cy="7315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7288" y="21031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18808" y="2103120"/>
            <a:ext cx="1767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Lead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611" y="2103120"/>
            <a:ext cx="26821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611" y="2103120"/>
            <a:ext cx="548640" cy="7315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611" y="21031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738131" y="2103120"/>
            <a:ext cx="1767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926080"/>
            <a:ext cx="26821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2926080"/>
            <a:ext cx="548640" cy="7315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9260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80160" y="2926080"/>
            <a:ext cx="1767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Lead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67964" y="2926080"/>
            <a:ext cx="26821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67964" y="2926080"/>
            <a:ext cx="548640" cy="7315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7964" y="29260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099484" y="2926080"/>
            <a:ext cx="1767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87288" y="2926080"/>
            <a:ext cx="26821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87288" y="2926080"/>
            <a:ext cx="54864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7288" y="29260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918808" y="2926080"/>
            <a:ext cx="1767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06611" y="2926080"/>
            <a:ext cx="26821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611" y="2926080"/>
            <a:ext cx="548640" cy="7315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06611" y="29260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738131" y="2926080"/>
            <a:ext cx="1767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3749040"/>
            <a:ext cx="26821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3749040"/>
            <a:ext cx="548640" cy="7315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749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280160" y="3749040"/>
            <a:ext cx="1767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367964" y="3749040"/>
            <a:ext cx="26821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67964" y="3749040"/>
            <a:ext cx="548640" cy="731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67964" y="3749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4099484" y="3749040"/>
            <a:ext cx="1767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SRE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87288" y="3749040"/>
            <a:ext cx="26821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87288" y="3749040"/>
            <a:ext cx="548640" cy="7315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87288" y="3749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918808" y="3749040"/>
            <a:ext cx="1767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 + Engineer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006611" y="3749040"/>
            <a:ext cx="26821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06611" y="3749040"/>
            <a:ext cx="548640" cy="7315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06611" y="3749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9738131" y="3749040"/>
            <a:ext cx="1767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Designer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48640" y="4572000"/>
            <a:ext cx="26821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8640" y="4572000"/>
            <a:ext cx="548640" cy="73152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4572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1280160" y="4572000"/>
            <a:ext cx="1767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solidFill>
            <a:srgbClr val="B8860B">
              <a:alpha val="10000"/>
            </a:srgbClr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คน × 8 เดือน effort + Account Manager + Customer Success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Qualifications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ประสบการณ์ที่เกี่ยวข้องกับโครงการ EOP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5472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73152" cy="1234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4028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ภาครัฐและภาคทหาร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5090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เคยพัฒนาระบบให้ ตร. · กรมที่ดิน · กระทรวงกลาโหม · ก.พ.ร.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7288" y="2103120"/>
            <a:ext cx="55472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7288" y="2103120"/>
            <a:ext cx="73152" cy="1234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1608" y="224028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Machine Learning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61608" y="2697480"/>
            <a:ext cx="5090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ของ AI features · 10+ องค์กร · 5+ ปี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55472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74720"/>
            <a:ext cx="73152" cy="1234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61188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069080"/>
            <a:ext cx="5090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ระบบรองรับ 1M+ users · HA cluster · DR drill ปกติ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87288" y="3474720"/>
            <a:ext cx="55472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87288" y="3474720"/>
            <a:ext cx="73152" cy="1234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1608" y="361188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61608" y="4069080"/>
            <a:ext cx="5090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· CISSP · CISA · Pen test certified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55472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846320"/>
            <a:ext cx="73152" cy="1234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98348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Language Processing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440680"/>
            <a:ext cx="5090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· NLP · ภาษาราชการ · ทำ project ภาษาไทยมา 8+ ปี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87288" y="4846320"/>
            <a:ext cx="55472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87288" y="4846320"/>
            <a:ext cx="73152" cy="1234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1608" y="498348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61608" y="5440680"/>
            <a:ext cx="5090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support center · SLA 99.9% · ทีม L1-L2-L3 ครบ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 — 92 ล้านบาท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รายละเอียดงบประมาณ 3 หมวด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60669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94560"/>
            <a:ext cx="3606698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9456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14M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480560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Servers · Storage · Network · UPS · XR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2498" y="2194560"/>
            <a:ext cx="360669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2498" y="2194560"/>
            <a:ext cx="3606698" cy="5486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5378" y="219456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Development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75378" y="292608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62.6M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475378" y="393192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75378" y="4480560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คน × 8 เดือน · License · AI 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36357" y="2194560"/>
            <a:ext cx="360669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6357" y="2194560"/>
            <a:ext cx="3606698" cy="5486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9237" y="219456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อื่นๆ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19237" y="292608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14.2M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8219237" y="393192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19237" y="4480560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Documentation · DR · Support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577840"/>
            <a:ext cx="11094415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5778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รวมทั้งสิ้น 92,000,000 บาท · รวม VAT 7% · ตรงงบ TOR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Schedule — 4 งวด</a:t>
            </a:r>
            <a:endParaRPr lang="en-US" sz="32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097280"/>
                <a:gridCol w="2743200"/>
                <a:gridCol w="4846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งวด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วันที่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จำนวนเงิน (บาท)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งวด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18,400,000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+ Auth +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งวด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27,600,000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+ Doc + AI PoC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งวด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27,600,000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XR + Analytics + 7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งวด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18,400,000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 + Training + Go-Live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รวม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Go-Live + Full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0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ทุกงวดมี deliverable ที่จับต้องได้ · ตรวจรับงานก่อนเบิกเงิน · ไม่จ่ายล่วงหน้า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— แผนรับมือความเสี่ยง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441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762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Risk — งานล่าช้า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0" y="21762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sprint 2 สัปดาห์ · Weekly progress review · Buffer 10% ใน timeline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545775" y="2240280"/>
            <a:ext cx="914400" cy="3200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45775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1109441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8620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Risk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28620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หลากหลาย · Human-in-the-loop review · Fallback template-based gen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545775" y="2926080"/>
            <a:ext cx="914400" cy="3200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45775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1109441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5478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Risk (191/CCTV/ข่าวกรอง)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35478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integration ในงวด 2 · Mock server สำรอง · API contract review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545775" y="3611880"/>
            <a:ext cx="914400" cy="3200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45775" y="3611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1109441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33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Breach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42336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 ทุกงวด · Bug bounty · Incident response runbook · Cyber insurance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545775" y="4297680"/>
            <a:ext cx="914400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45775" y="4297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1109441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9194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77840" y="49194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first · Containerized · Migration playbook · Multi-cloud option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545775" y="4983480"/>
            <a:ext cx="914400" cy="3200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45775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532120"/>
            <a:ext cx="1109441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6052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Knowledge Loss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77840" y="56052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มาตรฐาน · Pair programming · Knowledge sharing สัปดาห์ละครั้ง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545775" y="5669280"/>
            <a:ext cx="914400" cy="3200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45775" y="5669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FACTORS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Factors — ปัจจัยความสำเร็จ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44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28600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Sponsorship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180015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การสนับสนุนจากผู้บริหาร ตร. ที่ชัดเจน · กำหนด Project Sponsor ระดับ ผบ.ตร.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10944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315468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Requirements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657600"/>
            <a:ext cx="10180015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ข้อกำหนดที่ชัดเจน · ทบทวนเป็นระยะ · จัดประชุม Stakeholder รายเดือน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110944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25880" y="402336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4526280"/>
            <a:ext cx="10180015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เตรียมความพร้อมผู้ใช้ · Training Workshop · Champion ในแต่ละหน่วยงาน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10944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892040"/>
            <a:ext cx="457200" cy="457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25880" y="489204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 Plan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5394960"/>
            <a:ext cx="10180015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วางแผน import ข้อมูลเก่า · ตรวจสอบ data quality · Rollback plan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5577840"/>
            <a:ext cx="110944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5760720"/>
            <a:ext cx="457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76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325880" y="576072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Communication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25880" y="6263640"/>
            <a:ext cx="10180015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status report · Demo monthly · Issue tracker เปิดเผย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Royal Thai Police · Pre-PoC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คำถามที่อาจถูกถาม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Pre-prepared answers สำหรับ Q&amp;A session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9441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457200" cy="6400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ระบบรองรับผู้ใช้กี่คน?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1,000+ users พร้อมกัน · ขยายเป็น horizontal ได้ ไม่ downtime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16352"/>
            <a:ext cx="1109441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816352"/>
            <a:ext cx="457200" cy="6400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1635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2862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 AI ล่มจะทำอย่างไร?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136392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Fallback template-based generation + Cached responses · ไม่กระทบ workflow หลัก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529584"/>
            <a:ext cx="1109441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529584"/>
            <a:ext cx="457200" cy="6400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2958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88720" y="35753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ความปลอดภัยของข้อมูล?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849624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TLS 1.3 · AES-256 · Audit log ไม่สามารถลบ · MFA + JWT · CII compliant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242816"/>
            <a:ext cx="1109441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42816"/>
            <a:ext cx="457200" cy="6400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4281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88720" y="4288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เพิ่มแบบฟอร์มใหม่ทำอย่างไร?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4562856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Form Builder Drag-Drop · Admin ทำเอง 5 นาที · ไม่ต้องเขียนโค้ด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956048"/>
            <a:ext cx="1109441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956048"/>
            <a:ext cx="457200" cy="6400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95604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88720" y="5001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ต่างจาก Microsoft/SAP/Oracle อย่างไร?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88720" y="5276088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ภาษาไทยและบริบทราชการ · AI ราคาประหยัด · Open-source ไม่ lock-in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669280"/>
            <a:ext cx="1109441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669280"/>
            <a:ext cx="457200" cy="6400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669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188720" y="5715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240 วันทำทันไหม?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88720" y="5989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ทำได้ — pre-PoC ครอบคลุม 4 PoC + 7 ระบบหลักแล้ว · เหลือคือ scale +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ขอบคุณครับ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71600" y="3383280"/>
            <a:ext cx="9448495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566160"/>
            <a:ext cx="90827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ทีมเราพัฒนา EOP ตอบ TOR ครบ 7 ระบบ พร้อม AI 4 PoC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3977640"/>
            <a:ext cx="9082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ที่ทำงานได้จริง — ในเวลาเพียง 7 วันของ Pre-PoC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4434840"/>
            <a:ext cx="9082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พร้อมส่งมอบ Production ใน 240 วัน · งบ 92 ล้านบาท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· Enterprise Operation Planning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สำนักงานยุทธศาสตร์ตำรวจ · สำนักงานตำรวจแห่งชาติ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62179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Pre-PoC Demo · พุทธศักราช ๒๕๖๙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EOP Pitch Deck — Royal Thai Police</dc:title>
  <dc:subject>PptxGenJS Presentation</dc:subject>
  <dc:creator>EOP Team</dc:creator>
  <cp:lastModifiedBy>EOP Team</cp:lastModifiedBy>
  <cp:revision>1</cp:revision>
  <dcterms:created xsi:type="dcterms:W3CDTF">2026-05-20T06:23:01Z</dcterms:created>
  <dcterms:modified xsi:type="dcterms:W3CDTF">2026-05-20T06:23:01Z</dcterms:modified>
</cp:coreProperties>
</file>